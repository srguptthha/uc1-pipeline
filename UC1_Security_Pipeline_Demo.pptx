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371600"/>
            <a:ext cx="11457432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4572000"/>
            <a:ext cx="11457432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</a:rPr>
              <a:t>UC1 Supply Chain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146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0D9488"/>
                </a:solidFill>
              </a:rPr>
              <a:t>Security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20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94A3B8"/>
                </a:solidFill>
              </a:rPr>
              <a:t>Automated Vulnerability Detection, Risk Scoring &amp; Remediation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114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94A3B8"/>
                </a:solidFill>
              </a:rPr>
              <a:t>Demo for Leadership &amp; Business Stakeholders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</a:rPr>
              <a:t>UC1 Pipeline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4980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0D9488"/>
                </a:solidFill>
              </a:rPr>
              <a:t>Every software project relies on third-party libraries — and any one of them could be compromised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</a:rPr>
              <a:t>UC1 Supply Chain Security Pipeline  |  Confidential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17320"/>
            <a:ext cx="11430000" cy="4983480"/>
          </a:xfrm>
          <a:prstGeom prst="rect">
            <a:avLst/>
          </a:prstGeom>
          <a:solidFill>
            <a:srgbClr val="FFFDF0"/>
          </a:solidFill>
          <a:ln w="12700">
            <a:solidFill>
              <a:srgbClr val="D97F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600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B91C1C"/>
                </a:solidFill>
              </a:rPr>
              <a:t>⚠  Real Incident: Log4Shell (December 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148840"/>
            <a:ext cx="10789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F2937"/>
                </a:solidFill>
              </a:rPr>
              <a:t>      •   A single vulnerable library — log4j-core — was found in millions of applications worldwide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F2937"/>
                </a:solidFill>
              </a:rPr>
              <a:t>      •   CVSS Score: 10.0 out of 10  (the maximum possible — Remote Code Execution)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F2937"/>
                </a:solidFill>
              </a:rPr>
              <a:t>      •   Attackers could take full control of any server running the affected version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F2937"/>
                </a:solidFill>
              </a:rPr>
              <a:t>      •   Over 100 million devices were exposed within days of public disclosure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F2937"/>
                </a:solidFill>
              </a:rPr>
              <a:t>      •   Organisations scrambled for weeks to find and fix every affected 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66344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2D5C"/>
                </a:solidFill>
              </a:rPr>
              <a:t>The Challenge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02920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F2937"/>
                </a:solidFill>
              </a:rPr>
              <a:t>      •   A typical enterprise project has 50–200 third-party libraries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2937"/>
                </a:solidFill>
              </a:rPr>
              <a:t>      •   Each library can have its own vulnerabilities at any time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2937"/>
                </a:solidFill>
              </a:rPr>
              <a:t>      •   Manual tracking is impossible — new CVEs are published daily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66344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2D5C"/>
                </a:solidFill>
              </a:rPr>
              <a:t>The Cost of Inaction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502920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F2937"/>
                </a:solidFill>
              </a:rPr>
              <a:t>      •   Breach discovery time: avg. 194 days (IBM Cost of a Data Breach 2023)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2937"/>
                </a:solidFill>
              </a:rPr>
              <a:t>      •   Average breach cost: $4.45 million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2937"/>
                </a:solidFill>
              </a:rPr>
              <a:t>      •   Regulatory fines for known-vulnerability exploitation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Our Solution — UC1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4980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0D9488"/>
                </a:solidFill>
              </a:rPr>
              <a:t>One command. Full security audit. Automated fix. In under 90 seconds.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</a:rPr>
              <a:t>UC1 Supply Chain Security Pipeline  | 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41732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F2D5C"/>
                </a:solidFill>
              </a:rPr>
              <a:t>What it does in plain English: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920240"/>
            <a:ext cx="749807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16A34A"/>
                </a:solidFill>
              </a:rPr>
              <a:t>  ✔  Reads your project's list of third-party libraries automatically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16A34A"/>
                </a:solidFill>
              </a:rPr>
              <a:t>  ✔  Checks every library against 800,000+ known vulnerabilities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16A34A"/>
                </a:solidFill>
              </a:rPr>
              <a:t>  ✔  Scores each risk from 0–100 so you know what to fix first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16A34A"/>
                </a:solidFill>
              </a:rPr>
              <a:t>  ✔  Detects leaked passwords, licence violations, and suspicious packages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16A34A"/>
                </a:solidFill>
              </a:rPr>
              <a:t>  ✔  Creates a ready-to-merge fix on GitHub — no manual effort required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16A34A"/>
                </a:solidFill>
              </a:rPr>
              <a:t>  ✔  Verifies the fix is safe before allowing it to merge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417320"/>
            <a:ext cx="3657600" cy="5120640"/>
          </a:xfrm>
          <a:prstGeom prst="rect">
            <a:avLst/>
          </a:prstGeom>
          <a:solidFill>
            <a:srgbClr val="F1F5F9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600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2D5C"/>
                </a:solidFill>
              </a:rPr>
              <a:t>Key Facts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011680"/>
            <a:ext cx="3291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b="1" sz="1500">
                <a:solidFill>
                  <a:srgbClr val="0F2D5C"/>
                </a:solidFill>
              </a:rPr>
              <a:t>Runs in &lt; 90 seconds</a:t>
            </a:r>
          </a:p>
          <a:p>
            <a:pPr>
              <a:spcAft>
                <a:spcPts val="200"/>
              </a:spcAft>
            </a:pPr>
            <a:r>
              <a:rPr sz="1200" i="1">
                <a:solidFill>
                  <a:srgbClr val="94A3B8"/>
                </a:solidFill>
              </a:rPr>
              <a:t>for a typical project</a:t>
            </a:r>
          </a:p>
          <a:p>
            <a:pPr>
              <a:spcAft>
                <a:spcPts val="200"/>
              </a:spcAft>
            </a:pPr>
            <a:r>
              <a:rPr b="1" sz="1500">
                <a:solidFill>
                  <a:srgbClr val="0F2D5C"/>
                </a:solidFill>
              </a:rPr>
              <a:t>No installation required</a:t>
            </a:r>
          </a:p>
          <a:p>
            <a:pPr>
              <a:spcAft>
                <a:spcPts val="200"/>
              </a:spcAft>
            </a:pPr>
            <a:r>
              <a:rPr sz="1200" i="1">
                <a:solidFill>
                  <a:srgbClr val="94A3B8"/>
                </a:solidFill>
              </a:rPr>
              <a:t>Python 3.9+ only</a:t>
            </a:r>
          </a:p>
          <a:p>
            <a:pPr>
              <a:spcAft>
                <a:spcPts val="200"/>
              </a:spcAft>
            </a:pPr>
            <a:r>
              <a:rPr b="1" sz="1500">
                <a:solidFill>
                  <a:srgbClr val="0F2D5C"/>
                </a:solidFill>
              </a:rPr>
              <a:t>Supports 6 languages</a:t>
            </a:r>
          </a:p>
          <a:p>
            <a:pPr>
              <a:spcAft>
                <a:spcPts val="200"/>
              </a:spcAft>
            </a:pPr>
            <a:r>
              <a:rPr sz="1200" i="1">
                <a:solidFill>
                  <a:srgbClr val="94A3B8"/>
                </a:solidFill>
              </a:rPr>
              <a:t>Java · Python · Node.js</a:t>
            </a:r>
          </a:p>
          <a:p>
            <a:pPr>
              <a:spcAft>
                <a:spcPts val="200"/>
              </a:spcAft>
            </a:pPr>
            <a:r>
              <a:rPr sz="1200" i="1">
                <a:solidFill>
                  <a:srgbClr val="94A3B8"/>
                </a:solidFill>
              </a:rPr>
              <a:t>.NET · Ruby · Go</a:t>
            </a:r>
          </a:p>
          <a:p>
            <a:pPr>
              <a:spcAft>
                <a:spcPts val="200"/>
              </a:spcAft>
            </a:pPr>
            <a:r>
              <a:rPr b="1" sz="1500">
                <a:solidFill>
                  <a:srgbClr val="0F2D5C"/>
                </a:solidFill>
              </a:rPr>
              <a:t>Zero external tools</a:t>
            </a:r>
          </a:p>
          <a:p>
            <a:pPr>
              <a:spcAft>
                <a:spcPts val="200"/>
              </a:spcAft>
            </a:pPr>
            <a:r>
              <a:rPr sz="1200" i="1">
                <a:solidFill>
                  <a:srgbClr val="94A3B8"/>
                </a:solidFill>
              </a:rPr>
              <a:t>no expensive licences</a:t>
            </a:r>
          </a:p>
          <a:p>
            <a:pPr>
              <a:spcAft>
                <a:spcPts val="200"/>
              </a:spcAft>
            </a:pPr>
            <a:r>
              <a:rPr b="1" sz="1500">
                <a:solidFill>
                  <a:srgbClr val="0F2D5C"/>
                </a:solidFill>
              </a:rPr>
              <a:t>100% automated</a:t>
            </a:r>
          </a:p>
          <a:p>
            <a:pPr>
              <a:spcAft>
                <a:spcPts val="200"/>
              </a:spcAft>
            </a:pPr>
            <a:r>
              <a:rPr sz="1200" i="1">
                <a:solidFill>
                  <a:srgbClr val="94A3B8"/>
                </a:solidFill>
              </a:rPr>
              <a:t>from scan to PR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How It Works — 7 Automated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4980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0D9488"/>
                </a:solidFill>
              </a:rPr>
              <a:t>The pipeline runs from start to finish without any human intervention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</a:rPr>
              <a:t>UC1 Supply Chain Security Pipeline  |  Confidential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17320"/>
            <a:ext cx="1463040" cy="502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44475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Setup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0" y="1572768"/>
            <a:ext cx="274320" cy="7315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57400" y="1417320"/>
            <a:ext cx="1463040" cy="502920"/>
          </a:xfrm>
          <a:prstGeom prst="rect">
            <a:avLst/>
          </a:prstGeom>
          <a:solidFill>
            <a:srgbClr val="0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3120" y="144475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Stage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0440" y="1572768"/>
            <a:ext cx="274320" cy="7315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49039" y="1417320"/>
            <a:ext cx="1463040" cy="502920"/>
          </a:xfrm>
          <a:prstGeom prst="rect">
            <a:avLst/>
          </a:prstGeom>
          <a:solidFill>
            <a:srgbClr val="0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94759" y="144475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Stage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12079" y="1572768"/>
            <a:ext cx="274320" cy="7315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40679" y="1417320"/>
            <a:ext cx="1463040" cy="502920"/>
          </a:xfrm>
          <a:prstGeom prst="rect">
            <a:avLst/>
          </a:prstGeom>
          <a:solidFill>
            <a:srgbClr val="0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399" y="144475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Stage 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03719" y="1572768"/>
            <a:ext cx="274320" cy="7315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32319" y="1417320"/>
            <a:ext cx="1463040" cy="502920"/>
          </a:xfrm>
          <a:prstGeom prst="rect">
            <a:avLst/>
          </a:prstGeom>
          <a:solidFill>
            <a:srgbClr val="D97F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78039" y="144475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3.5–3.9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95359" y="1572768"/>
            <a:ext cx="274320" cy="7315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823959" y="1417320"/>
            <a:ext cx="1463040" cy="5029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0" y="144475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Stage 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286999" y="1572768"/>
            <a:ext cx="274320" cy="7315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515599" y="1417320"/>
            <a:ext cx="1463040" cy="502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61319" y="144475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Stage 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978639" y="1572768"/>
            <a:ext cx="274320" cy="7315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2103120"/>
            <a:ext cx="1463040" cy="4297680"/>
          </a:xfrm>
          <a:prstGeom prst="rect">
            <a:avLst/>
          </a:prstGeom>
          <a:solidFill>
            <a:srgbClr val="F1F5F9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2240280"/>
            <a:ext cx="1280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</a:rPr>
              <a:t>Detect language &amp; read dependency list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57400" y="2103120"/>
            <a:ext cx="1463040" cy="4297680"/>
          </a:xfrm>
          <a:prstGeom prst="rect">
            <a:avLst/>
          </a:prstGeom>
          <a:solidFill>
            <a:srgbClr val="F1F5F9"/>
          </a:solidFill>
          <a:ln w="19050">
            <a:solidFill>
              <a:srgbClr val="0F2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48840" y="2240280"/>
            <a:ext cx="1280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</a:rPr>
              <a:t>Scan all libraries for known CVEs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49039" y="2103120"/>
            <a:ext cx="1463040" cy="4297680"/>
          </a:xfrm>
          <a:prstGeom prst="rect">
            <a:avLst/>
          </a:prstGeom>
          <a:solidFill>
            <a:srgbClr val="F1F5F9"/>
          </a:solidFill>
          <a:ln w="19050">
            <a:solidFill>
              <a:srgbClr val="0F2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40479" y="2240280"/>
            <a:ext cx="1280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</a:rPr>
              <a:t>Score each risk from 0–100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40679" y="2103120"/>
            <a:ext cx="1463040" cy="4297680"/>
          </a:xfrm>
          <a:prstGeom prst="rect">
            <a:avLst/>
          </a:prstGeom>
          <a:solidFill>
            <a:srgbClr val="F1F5F9"/>
          </a:solidFill>
          <a:ln w="19050">
            <a:solidFill>
              <a:srgbClr val="0F2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532119" y="2240280"/>
            <a:ext cx="1280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</a:rPr>
              <a:t>Audit supply chain &amp; check licences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132319" y="2103120"/>
            <a:ext cx="1463040" cy="4297680"/>
          </a:xfrm>
          <a:prstGeom prst="rect">
            <a:avLst/>
          </a:prstGeom>
          <a:solidFill>
            <a:srgbClr val="F1F5F9"/>
          </a:solidFill>
          <a:ln w="19050">
            <a:solidFill>
              <a:srgbClr val="D97F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3759" y="2240280"/>
            <a:ext cx="1280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</a:rPr>
              <a:t>Detect secrets, enforce policy, track drift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823959" y="2103120"/>
            <a:ext cx="1463040" cy="4297680"/>
          </a:xfrm>
          <a:prstGeom prst="rect">
            <a:avLst/>
          </a:prstGeom>
          <a:solidFill>
            <a:srgbClr val="F1F5F9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15399" y="2240280"/>
            <a:ext cx="1280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</a:rPr>
              <a:t>Create automated fix PR on GitHub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515599" y="2103120"/>
            <a:ext cx="1463040" cy="4297680"/>
          </a:xfrm>
          <a:prstGeom prst="rect">
            <a:avLst/>
          </a:prstGeom>
          <a:solidFill>
            <a:srgbClr val="F1F5F9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607039" y="2240280"/>
            <a:ext cx="1280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</a:rPr>
              <a:t>Validate the fix is safe to merge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4A3B8"/>
                </a:solidFill>
              </a:rPr>
              <a:t>Each stage feeds its results into the next — the pipeline is fully connected end-to-end.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What the Pipeline Detects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4980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0D9488"/>
                </a:solidFill>
              </a:rPr>
              <a:t>Six categories of risk — all checked automatically in every run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</a:rPr>
              <a:t>UC1 Supply Chain Security Pipeline  |  Confidential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3520440" cy="2377440"/>
          </a:xfrm>
          <a:prstGeom prst="rect">
            <a:avLst/>
          </a:prstGeom>
          <a:solidFill>
            <a:srgbClr val="F1F5F9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79" y="1508760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2D5C"/>
                </a:solidFill>
              </a:rPr>
              <a:t>🔴  Known Vulnerabilities (CVEs)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874519"/>
            <a:ext cx="3520440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965960"/>
            <a:ext cx="32461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>
                <a:solidFill>
                  <a:srgbClr val="1F2937"/>
                </a:solidFill>
              </a:rPr>
              <a:t>      •   Libraries with published security flaws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F2937"/>
                </a:solidFill>
              </a:rPr>
              <a:t>      •   Severity scored using CVSS (0–10 scale)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F2937"/>
                </a:solidFill>
              </a:rPr>
              <a:t>      •   Data from Google's OSV database — 800k+ CVEs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F2937"/>
                </a:solidFill>
              </a:rPr>
              <a:t>      •   Example: Log4Shell scored 10.0 / Critical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60520" y="1417320"/>
            <a:ext cx="3520440" cy="2377440"/>
          </a:xfrm>
          <a:prstGeom prst="rect">
            <a:avLst/>
          </a:prstGeom>
          <a:solidFill>
            <a:srgbClr val="F1F5F9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1508760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2D5C"/>
                </a:solidFill>
              </a:rPr>
              <a:t>🟠  Supply Chain Risks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0520" y="1874519"/>
            <a:ext cx="3520440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1965960"/>
            <a:ext cx="32461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>
                <a:solidFill>
                  <a:srgbClr val="1F2937"/>
                </a:solidFill>
              </a:rPr>
              <a:t>      •   Packages from unrecognised publishers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F2937"/>
                </a:solidFill>
              </a:rPr>
              <a:t>      •   Typosquatted names (e.g. 'djano' vs 'django')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F2937"/>
                </a:solidFill>
              </a:rPr>
              <a:t>      •   Untrusted or unofficial sources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F2937"/>
                </a:solidFill>
              </a:rPr>
              <a:t>      •   Example: fake packages that steal data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1417320"/>
            <a:ext cx="3520440" cy="2377440"/>
          </a:xfrm>
          <a:prstGeom prst="rect">
            <a:avLst/>
          </a:prstGeom>
          <a:solidFill>
            <a:srgbClr val="F1F5F9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80" y="1508760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2D5C"/>
                </a:solidFill>
              </a:rPr>
              <a:t>🟡  Leaked Secrets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6720" y="1874519"/>
            <a:ext cx="3520440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83880" y="1965960"/>
            <a:ext cx="32461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>
                <a:solidFill>
                  <a:srgbClr val="1F2937"/>
                </a:solidFill>
              </a:rPr>
              <a:t>      •   Passwords accidentally committed to code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F2937"/>
                </a:solidFill>
              </a:rPr>
              <a:t>      •   API keys, GitHub tokens, AWS credentials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F2937"/>
                </a:solidFill>
              </a:rPr>
              <a:t>      •   Database connection strings with passwords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F2937"/>
                </a:solidFill>
              </a:rPr>
              <a:t>      •   Example: AWS key exposed in config file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977639"/>
            <a:ext cx="3520440" cy="2377440"/>
          </a:xfrm>
          <a:prstGeom prst="rect">
            <a:avLst/>
          </a:prstGeom>
          <a:solidFill>
            <a:srgbClr val="F1F5F9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79" y="4069079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2D5C"/>
                </a:solidFill>
              </a:rPr>
              <a:t>🟢  Licence Violations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4434840"/>
            <a:ext cx="3520440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79" y="4526279"/>
            <a:ext cx="32461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>
                <a:solidFill>
                  <a:srgbClr val="1F2937"/>
                </a:solidFill>
              </a:rPr>
              <a:t>      •   GPL / AGPL licences in commercial products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F2937"/>
                </a:solidFill>
              </a:rPr>
              <a:t>      •   Verified against the real package registry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F2937"/>
                </a:solidFill>
              </a:rPr>
              <a:t>      •   Triggered if a blocked licence is found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F2937"/>
                </a:solidFill>
              </a:rPr>
              <a:t>      •   Example: GPL code in a proprietary product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60520" y="3977639"/>
            <a:ext cx="3520440" cy="2377440"/>
          </a:xfrm>
          <a:prstGeom prst="rect">
            <a:avLst/>
          </a:prstGeom>
          <a:solidFill>
            <a:srgbClr val="F1F5F9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97680" y="4069079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2D5C"/>
                </a:solidFill>
              </a:rPr>
              <a:t>🔵  Dependency Drift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60520" y="4434840"/>
            <a:ext cx="3520440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80" y="4526279"/>
            <a:ext cx="32461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>
                <a:solidFill>
                  <a:srgbClr val="1F2937"/>
                </a:solidFill>
              </a:rPr>
              <a:t>      •   Libraries added or changed since last scan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F2937"/>
                </a:solidFill>
              </a:rPr>
              <a:t>      •   Version upgrades or downgrades tracked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F2937"/>
                </a:solidFill>
              </a:rPr>
              <a:t>      •   Alerts when a new CVE-carrying dep appears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F2937"/>
                </a:solidFill>
              </a:rPr>
              <a:t>      •   Example: developer quietly bumps a version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46720" y="3977639"/>
            <a:ext cx="3520440" cy="2377440"/>
          </a:xfrm>
          <a:prstGeom prst="rect">
            <a:avLst/>
          </a:prstGeom>
          <a:solidFill>
            <a:srgbClr val="F1F5F9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4069079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2D5C"/>
                </a:solidFill>
              </a:rPr>
              <a:t>⚫  Policy Violations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46720" y="4434840"/>
            <a:ext cx="3520440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83880" y="4526279"/>
            <a:ext cx="32461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>
                <a:solidFill>
                  <a:srgbClr val="1F2937"/>
                </a:solidFill>
              </a:rPr>
              <a:t>      •   Customisable rules set by your organisation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F2937"/>
                </a:solidFill>
              </a:rPr>
              <a:t>      •   E.g. zero tolerance for Critical CVEs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F2937"/>
                </a:solidFill>
              </a:rPr>
              <a:t>      •   E.g. max 5 High-severity vulnerabilities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F2937"/>
                </a:solidFill>
              </a:rPr>
              <a:t>      •   Blocks pipeline if policy is breached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The Health Report — Your Security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4980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0D9488"/>
                </a:solidFill>
              </a:rPr>
              <a:t>An interactive report delivered after every scan — open in any browser, no login required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</a:rPr>
              <a:t>UC1 Supply Chain Security Pipeline  |  Confidential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17320"/>
            <a:ext cx="2103120" cy="11887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914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10312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90–100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78608" y="1417320"/>
            <a:ext cx="2103120" cy="1188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52927" y="1463040"/>
            <a:ext cx="914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70048" y="210312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75–89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91456" y="1417320"/>
            <a:ext cx="2103120" cy="1188720"/>
          </a:xfrm>
          <a:prstGeom prst="rect">
            <a:avLst/>
          </a:prstGeom>
          <a:solidFill>
            <a:srgbClr val="D97F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65776" y="1463040"/>
            <a:ext cx="914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82896" y="210312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50–74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04304" y="1417320"/>
            <a:ext cx="2103120" cy="1188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78624" y="1463040"/>
            <a:ext cx="914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95744" y="210312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25–49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17152" y="1417320"/>
            <a:ext cx="2103120" cy="118872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91472" y="1463040"/>
            <a:ext cx="914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08592" y="210312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0–24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2834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2D5C"/>
                </a:solidFill>
              </a:rPr>
              <a:t>The report shows: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3246120"/>
            <a:ext cx="5029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>
                <a:solidFill>
                  <a:srgbClr val="1F2937"/>
                </a:solidFill>
              </a:rPr>
              <a:t>      •   Health score before and after the automated fix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1F2937"/>
                </a:solidFill>
              </a:rPr>
              <a:t>      •   Full list of vulnerabilities found with severity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1F2937"/>
                </a:solidFill>
              </a:rPr>
              <a:t>      •   Risk ranking — most dangerous dependencies first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1F2937"/>
                </a:solidFill>
              </a:rPr>
              <a:t>      •   Details of the fix PR (what was upgraded, why)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1F2937"/>
                </a:solidFill>
              </a:rPr>
              <a:t>      •   Validation gate results — was the fix safe?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1F2937"/>
                </a:solidFill>
              </a:rPr>
              <a:t>      •   Unit test results from the pipeline itself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60720" y="2788920"/>
            <a:ext cx="6126480" cy="3383280"/>
          </a:xfrm>
          <a:prstGeom prst="rect">
            <a:avLst/>
          </a:prstGeom>
          <a:solidFill>
            <a:srgbClr val="F1F5F9"/>
          </a:solidFill>
          <a:ln w="12700">
            <a:solidFill>
              <a:srgbClr val="0F2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0" y="288036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2D5C"/>
                </a:solidFill>
              </a:rPr>
              <a:t>Real Example — uc1-security-demo Repo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60720" y="3246120"/>
            <a:ext cx="6126480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897880" y="3383280"/>
            <a:ext cx="1828800" cy="1143000"/>
          </a:xfrm>
          <a:prstGeom prst="rect">
            <a:avLst/>
          </a:prstGeom>
          <a:solidFill>
            <a:srgbClr val="F1F5F9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89320" y="3493008"/>
            <a:ext cx="1645920" cy="628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EA580C"/>
                </a:solidFill>
              </a:rPr>
              <a:t>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89320" y="4046220"/>
            <a:ext cx="1645920" cy="4343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</a:rPr>
              <a:t>CVEs Found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18120" y="3383280"/>
            <a:ext cx="1828800" cy="1143000"/>
          </a:xfrm>
          <a:prstGeom prst="rect">
            <a:avLst/>
          </a:prstGeom>
          <a:solidFill>
            <a:srgbClr val="F1F5F9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09560" y="3493008"/>
            <a:ext cx="1645920" cy="628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B91C1C"/>
                </a:solidFill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09560" y="4046220"/>
            <a:ext cx="1645920" cy="4343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</a:rPr>
              <a:t>Critical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738360" y="3383280"/>
            <a:ext cx="1737360" cy="1143000"/>
          </a:xfrm>
          <a:prstGeom prst="rect">
            <a:avLst/>
          </a:prstGeom>
          <a:solidFill>
            <a:srgbClr val="F1F5F9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29800" y="3493008"/>
            <a:ext cx="1554480" cy="628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D97F06"/>
                </a:solidFill>
              </a:rPr>
              <a:t>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9800" y="4046220"/>
            <a:ext cx="1554480" cy="4343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</a:rPr>
              <a:t>High Severity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97880" y="4617720"/>
            <a:ext cx="1828800" cy="1143000"/>
          </a:xfrm>
          <a:prstGeom prst="rect">
            <a:avLst/>
          </a:prstGeom>
          <a:solidFill>
            <a:srgbClr val="F1F5F9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89320" y="4727448"/>
            <a:ext cx="1645920" cy="628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6A34A"/>
                </a:solidFill>
              </a:rPr>
              <a:t>F → 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89320" y="5280659"/>
            <a:ext cx="1645920" cy="4343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</a:rPr>
              <a:t>Grade After Fix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818120" y="4617720"/>
            <a:ext cx="1828800" cy="1143000"/>
          </a:xfrm>
          <a:prstGeom prst="rect">
            <a:avLst/>
          </a:prstGeom>
          <a:solidFill>
            <a:srgbClr val="F1F5F9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909560" y="4727448"/>
            <a:ext cx="1645920" cy="628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0D9488"/>
                </a:solidFill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09560" y="5280659"/>
            <a:ext cx="1645920" cy="4343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</a:rPr>
              <a:t>Upgrades Proposed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738360" y="4617720"/>
            <a:ext cx="1737360" cy="1143000"/>
          </a:xfrm>
          <a:prstGeom prst="rect">
            <a:avLst/>
          </a:prstGeom>
          <a:solidFill>
            <a:srgbClr val="F1F5F9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829800" y="4727448"/>
            <a:ext cx="1554480" cy="628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0F2D5C"/>
                </a:solidFill>
              </a:rPr>
              <a:t>&lt; 90s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29800" y="5280659"/>
            <a:ext cx="1554480" cy="4343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</a:rPr>
              <a:t>Total Scan Time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Automated Fix — One Pull Request, All Upgrades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4980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0D9488"/>
                </a:solidFill>
              </a:rPr>
              <a:t>The pipeline creates a single GitHub PR covering every unsafe library — ready for review or auto-merge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</a:rPr>
              <a:t>UC1 Supply Chain Security Pipeline  | 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417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2D5C"/>
                </a:solidFill>
              </a:rPr>
              <a:t>What the PR contains: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82880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16A34A"/>
                </a:solidFill>
              </a:rPr>
              <a:t>  ✔  A table of every unsafe library with old and new version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16A34A"/>
                </a:solidFill>
              </a:rPr>
              <a:t>  ✔  Details of every CVE that will be fixed by the upgrade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16A34A"/>
                </a:solidFill>
              </a:rPr>
              <a:t>  ✔  Clear flag for MAJOR upgrades that need human sign-off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16A34A"/>
                </a:solidFill>
              </a:rPr>
              <a:t>  ✔  A review checklist so nothing is forgotten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16A34A"/>
                </a:solidFill>
              </a:rPr>
              <a:t>  ✔  Validation gate results posted as a comment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74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2D5C"/>
                </a:solidFill>
              </a:rPr>
              <a:t>Smart merge policy: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486400"/>
            <a:ext cx="5486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</a:rPr>
              <a:t>  ►  PATCH upgrades  (bug-fix only)  →  auto-merged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</a:rPr>
              <a:t>  ►  MINOR upgrades  (new features)  →  auto-merged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</a:rPr>
              <a:t>  ►  MAJOR upgrades  (breaking changes)  →  human review required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417320"/>
            <a:ext cx="5577840" cy="5212080"/>
          </a:xfrm>
          <a:prstGeom prst="rect">
            <a:avLst/>
          </a:prstGeom>
          <a:solidFill>
            <a:srgbClr val="F1F5F9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5087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2D5C"/>
                </a:solidFill>
              </a:rPr>
              <a:t>Example upgrades from demo scan: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920240"/>
            <a:ext cx="5577840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6208" y="1965960"/>
            <a:ext cx="5541264" cy="475488"/>
          </a:xfrm>
          <a:prstGeom prst="rect">
            <a:avLst/>
          </a:prstGeom>
          <a:solidFill>
            <a:srgbClr val="0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020824"/>
            <a:ext cx="1051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Library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202082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Old 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20824"/>
            <a:ext cx="868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New 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2020824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Bump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5560" y="2020824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CVEs Fixed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6208" y="2459736"/>
            <a:ext cx="5541264" cy="47548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2514600"/>
            <a:ext cx="1051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log4j-core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25146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2.14.1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2514600"/>
            <a:ext cx="868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2.26.0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600" y="251460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MINOR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5560" y="2514600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6A34A"/>
                </a:solidFill>
              </a:rPr>
              <a:t>7  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36208" y="2953512"/>
            <a:ext cx="5541264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008376"/>
            <a:ext cx="1051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spring-core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79" y="3008376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5.3.20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3008376"/>
            <a:ext cx="868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7.0.7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2600" y="3008376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MAJOR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5560" y="3008376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91C1C"/>
                </a:solidFill>
              </a:rPr>
              <a:t>1  ⚠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36208" y="3447288"/>
            <a:ext cx="5541264" cy="47548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502152"/>
            <a:ext cx="1051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jackson-databind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3502152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2.13.0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58200" y="3502152"/>
            <a:ext cx="868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2.22.0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2600" y="3502152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MINOR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95560" y="3502152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6A34A"/>
                </a:solidFill>
              </a:rPr>
              <a:t>4  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36208" y="3941064"/>
            <a:ext cx="5541264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3995928"/>
            <a:ext cx="1051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h2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98079" y="399592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2.1.210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3995928"/>
            <a:ext cx="868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2.4.240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72600" y="3995928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MINOR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95560" y="3995928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6A34A"/>
                </a:solidFill>
              </a:rPr>
              <a:t>1  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36208" y="4434840"/>
            <a:ext cx="5541264" cy="47548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4489704"/>
            <a:ext cx="1051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commons-text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98079" y="448970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1.9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58200" y="4489704"/>
            <a:ext cx="868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1.15.0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72600" y="4489704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MINOR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95560" y="4489704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6A34A"/>
                </a:solidFill>
              </a:rPr>
              <a:t>3  ✔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36208" y="4928616"/>
            <a:ext cx="5541264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0" y="4983480"/>
            <a:ext cx="1051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snakeyaml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98079" y="49834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1.30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58200" y="4983480"/>
            <a:ext cx="868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2.6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72600" y="498348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MAJOR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95560" y="4983480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91C1C"/>
                </a:solidFill>
              </a:rPr>
              <a:t>5  ⚠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Safety First — 4 Validation Gates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4980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0D9488"/>
                </a:solidFill>
              </a:rPr>
              <a:t>Every fix is independently verified before it is allowed to merge into your codebase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</a:rPr>
              <a:t>UC1 Supply Chain Security Pipeline  |  Confidential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417320"/>
            <a:ext cx="2834640" cy="3383280"/>
          </a:xfrm>
          <a:prstGeom prst="rect">
            <a:avLst/>
          </a:prstGeom>
          <a:solidFill>
            <a:srgbClr val="F1F5F9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417320"/>
            <a:ext cx="2834640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146304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Gate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46304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Unit Tests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5960"/>
            <a:ext cx="25603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F2937"/>
                </a:solidFill>
              </a:rPr>
              <a:t>      •   Runs your project's existing test suite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F2937"/>
                </a:solidFill>
              </a:rPr>
              <a:t>      •   Ensures no existing feature is broken by the upgrade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F2937"/>
                </a:solidFill>
              </a:rPr>
              <a:t>      •   Result: PASS / FAIL / SKIPPED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64408" y="1417320"/>
            <a:ext cx="2834640" cy="3383280"/>
          </a:xfrm>
          <a:prstGeom prst="rect">
            <a:avLst/>
          </a:prstGeom>
          <a:solidFill>
            <a:srgbClr val="F1F5F9"/>
          </a:solidFill>
          <a:ln w="254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64408" y="1417320"/>
            <a:ext cx="2834640" cy="4572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55848" y="146304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Gate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50208" y="146304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Vulnerability Re-scan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01568" y="1965960"/>
            <a:ext cx="25603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F2937"/>
                </a:solidFill>
              </a:rPr>
              <a:t>      •   Re-checks the upgraded libraries for NEW vulnerabilities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F2937"/>
                </a:solidFill>
              </a:rPr>
              <a:t>      •   Confirms the upgrade does not introduce a new CVE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F2937"/>
                </a:solidFill>
              </a:rPr>
              <a:t>      •   Always runs — no tools required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1417320"/>
            <a:ext cx="2834640" cy="3383280"/>
          </a:xfrm>
          <a:prstGeom prst="rect">
            <a:avLst/>
          </a:prstGeom>
          <a:solidFill>
            <a:srgbClr val="F1F5F9"/>
          </a:solidFill>
          <a:ln w="25400">
            <a:solidFill>
              <a:srgbClr val="0F2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1417320"/>
            <a:ext cx="2834640" cy="457200"/>
          </a:xfrm>
          <a:prstGeom prst="rect">
            <a:avLst/>
          </a:prstGeom>
          <a:solidFill>
            <a:srgbClr val="0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0216" y="146304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Gate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94576" y="146304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Container Security Scan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1965960"/>
            <a:ext cx="25603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F2937"/>
                </a:solidFill>
              </a:rPr>
              <a:t>      •   Scans the upgraded code with Grype (Anchore)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F2937"/>
                </a:solidFill>
              </a:rPr>
              <a:t>      •   Checks for Critical/High findings in container layers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F2937"/>
                </a:solidFill>
              </a:rPr>
              <a:t>      •   Result: PASS / FAIL / SKIPPED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53144" y="1417320"/>
            <a:ext cx="2834640" cy="3383280"/>
          </a:xfrm>
          <a:prstGeom prst="rect">
            <a:avLst/>
          </a:prstGeom>
          <a:solidFill>
            <a:srgbClr val="F1F5F9"/>
          </a:solidFill>
          <a:ln w="25400">
            <a:solidFill>
              <a:srgbClr val="D97F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53144" y="1417320"/>
            <a:ext cx="2834640" cy="457200"/>
          </a:xfrm>
          <a:prstGeom prst="rect">
            <a:avLst/>
          </a:prstGeom>
          <a:solidFill>
            <a:srgbClr val="D97F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44584" y="146304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Gate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38944" y="146304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Code Coverage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0304" y="1965960"/>
            <a:ext cx="25603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F2937"/>
                </a:solidFill>
              </a:rPr>
              <a:t>      •   Verifies test coverage has not dropped below threshold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F2937"/>
                </a:solidFill>
              </a:rPr>
              <a:t>      •   Default threshold: 80% line coverage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F2937"/>
                </a:solidFill>
              </a:rPr>
              <a:t>      •   Result: PASS / FAIL / SKIPPED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50292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2D5C"/>
                </a:solidFill>
              </a:rPr>
              <a:t>Verdict Logic: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5486400"/>
            <a:ext cx="2834640" cy="914400"/>
          </a:xfrm>
          <a:prstGeom prst="rect">
            <a:avLst/>
          </a:prstGeom>
          <a:solidFill>
            <a:srgbClr val="F1F5F9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79" y="553212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All gates PASS  +  PATCH or MINOR upgrade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79" y="594360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6A34A"/>
                </a:solidFill>
              </a:rPr>
              <a:t>AUTO-MERGE  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64408" y="5486400"/>
            <a:ext cx="2834640" cy="914400"/>
          </a:xfrm>
          <a:prstGeom prst="rect">
            <a:avLst/>
          </a:prstGeom>
          <a:solidFill>
            <a:srgbClr val="F1F5F9"/>
          </a:solidFill>
          <a:ln w="19050">
            <a:solidFill>
              <a:srgbClr val="D97F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55848" y="553212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All gates PASS  +  MAJOR upgrade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55848" y="594360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97F06"/>
                </a:solidFill>
              </a:rPr>
              <a:t>Human Review Required  ⚠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08776" y="5486400"/>
            <a:ext cx="2834640" cy="914400"/>
          </a:xfrm>
          <a:prstGeom prst="rect">
            <a:avLst/>
          </a:prstGeom>
          <a:solidFill>
            <a:srgbClr val="F1F5F9"/>
          </a:solidFill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0216" y="553212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Any gate FAILS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0216" y="594360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91C1C"/>
                </a:solidFill>
              </a:rPr>
              <a:t>BLOCKED  ✗  (details in PR comment)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53144" y="5486400"/>
            <a:ext cx="2834640" cy="914400"/>
          </a:xfrm>
          <a:prstGeom prst="rect">
            <a:avLst/>
          </a:prstGeom>
          <a:solidFill>
            <a:srgbClr val="F1F5F9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44584" y="553212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Gate tool not installed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44584" y="594360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4A3B8"/>
                </a:solidFill>
              </a:rPr>
              <a:t>SKIPPED  —  Does not block merge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Live Demo — Real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4980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0D9488"/>
                </a:solidFill>
              </a:rPr>
              <a:t>Scanned: github.com/SRGuptthha/uc1-security-demo  |  Language: Java / Maven  |  Duration: &lt; 90 seconds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</a:rPr>
              <a:t>UC1 Supply Chain Security Pipeline  |  Confidential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7772400" cy="128016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81328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BEFORE  —  Health Grade: 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019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Score: 0 / 100   (too many critical vulnerabilities — floor reached)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834640"/>
            <a:ext cx="7772400" cy="12801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898648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AFTER   —  Health Grade: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319272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Score: 100 / 100   (all 28 CVEs resolved by the automated upgrades)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251960"/>
            <a:ext cx="5029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b="1" sz="1400">
                <a:solidFill>
                  <a:srgbClr val="0F2D5C"/>
                </a:solidFill>
              </a:rPr>
              <a:t>What was found: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F2937"/>
                </a:solidFill>
              </a:rPr>
              <a:t>      •   28 CVEs across 7 libraries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F2937"/>
                </a:solidFill>
              </a:rPr>
              <a:t>      •   5 Critical severity  (CVSS ≥ 9.0) including Log4Shell (10.0)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F2937"/>
                </a:solidFill>
              </a:rPr>
              <a:t>      •   12 High severity  (CVSS ≥ 7.0)</a:t>
            </a:r>
          </a:p>
          <a:p>
            <a:pPr>
              <a:spcAft>
                <a:spcPts val="300"/>
              </a:spcAft>
            </a:pPr>
            <a:r>
              <a:rPr b="1" sz="1400">
                <a:solidFill>
                  <a:srgbClr val="0F2D5C"/>
                </a:solidFill>
              </a:rPr>
              <a:t>What the pipeline did: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F2937"/>
                </a:solidFill>
              </a:rPr>
              <a:t>      •   Created 1 consolidated GitHub PR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F2937"/>
                </a:solidFill>
              </a:rPr>
              <a:t>      •   Upgraded 6 libraries to safe versions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F2937"/>
                </a:solidFill>
              </a:rPr>
              <a:t>      •   Auto-merged 4 MINOR upgrades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F2937"/>
                </a:solidFill>
              </a:rPr>
              <a:t>      •   Flagged 2 MAJOR upgrades for human review</a:t>
            </a:r>
          </a:p>
          <a:p>
            <a:pPr>
              <a:spcAft>
                <a:spcPts val="300"/>
              </a:spcAft>
            </a:pPr>
            <a:r>
              <a:rPr b="1" sz="1400">
                <a:solidFill>
                  <a:srgbClr val="0F2D5C"/>
                </a:solidFill>
              </a:rPr>
              <a:t>Time taken:  &lt; 90 seconds end-to-end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0" y="1417320"/>
            <a:ext cx="6309360" cy="5212080"/>
          </a:xfrm>
          <a:prstGeom prst="rect">
            <a:avLst/>
          </a:prstGeom>
          <a:solidFill>
            <a:srgbClr val="F1F5F9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160" y="150876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2D5C"/>
                </a:solidFill>
              </a:rPr>
              <a:t>Security Improvement Summary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0" y="1920240"/>
            <a:ext cx="6309360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806440" y="2011680"/>
            <a:ext cx="2834640" cy="1325880"/>
          </a:xfrm>
          <a:prstGeom prst="rect">
            <a:avLst/>
          </a:prstGeom>
          <a:solidFill>
            <a:srgbClr val="F1F5F9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97879" y="2121408"/>
            <a:ext cx="2651760" cy="7292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6A34A"/>
                </a:solidFill>
              </a:rPr>
              <a:t>28 → 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97879" y="2780690"/>
            <a:ext cx="2651760" cy="50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</a:rPr>
              <a:t>CVEs Resolved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78240" y="2011680"/>
            <a:ext cx="2834640" cy="1325880"/>
          </a:xfrm>
          <a:prstGeom prst="rect">
            <a:avLst/>
          </a:prstGeom>
          <a:solidFill>
            <a:srgbClr val="F1F5F9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0" y="2121408"/>
            <a:ext cx="2651760" cy="7292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6A34A"/>
                </a:solidFill>
              </a:rPr>
              <a:t>F → 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2780690"/>
            <a:ext cx="2651760" cy="50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</a:rPr>
              <a:t>Health Grade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06440" y="3474720"/>
            <a:ext cx="2834640" cy="1325880"/>
          </a:xfrm>
          <a:prstGeom prst="rect">
            <a:avLst/>
          </a:prstGeom>
          <a:solidFill>
            <a:srgbClr val="F1F5F9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97879" y="3584448"/>
            <a:ext cx="2651760" cy="7292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0D9488"/>
                </a:solidFill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97879" y="4243730"/>
            <a:ext cx="2651760" cy="50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</a:rPr>
              <a:t>Libraries Upgraded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778240" y="3474720"/>
            <a:ext cx="2834640" cy="1325880"/>
          </a:xfrm>
          <a:prstGeom prst="rect">
            <a:avLst/>
          </a:prstGeom>
          <a:solidFill>
            <a:srgbClr val="F1F5F9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0" y="3584448"/>
            <a:ext cx="2651760" cy="7292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0D9488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4243730"/>
            <a:ext cx="2651760" cy="50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</a:rPr>
              <a:t>Auto-Merged PRs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06440" y="4937760"/>
            <a:ext cx="2834640" cy="1188720"/>
          </a:xfrm>
          <a:prstGeom prst="rect">
            <a:avLst/>
          </a:prstGeom>
          <a:solidFill>
            <a:srgbClr val="F1F5F9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97879" y="5047488"/>
            <a:ext cx="2651760" cy="653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D97F06"/>
                </a:solidFill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97879" y="5627217"/>
            <a:ext cx="2651760" cy="4517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</a:rPr>
              <a:t>Awaiting Human Review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778240" y="4937760"/>
            <a:ext cx="2834640" cy="1188720"/>
          </a:xfrm>
          <a:prstGeom prst="rect">
            <a:avLst/>
          </a:prstGeom>
          <a:solidFill>
            <a:srgbClr val="F1F5F9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69680" y="5047488"/>
            <a:ext cx="2651760" cy="653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6A34A"/>
                </a:solidFill>
              </a:rPr>
              <a:t>63 / 63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69680" y="5627217"/>
            <a:ext cx="2651760" cy="4517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</a:rPr>
              <a:t>Unit Tests Passed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Business Benefits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4980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0D9488"/>
                </a:solidFill>
              </a:rPr>
              <a:t>Why this matters beyond the technical details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</a:rPr>
              <a:t>UC1 Supply Chain Security Pipeline  |  Confidential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417320"/>
            <a:ext cx="3611880" cy="2331720"/>
          </a:xfrm>
          <a:prstGeom prst="rect">
            <a:avLst/>
          </a:prstGeom>
          <a:solidFill>
            <a:srgbClr val="F1F5F9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417320"/>
            <a:ext cx="3611880" cy="457200"/>
          </a:xfrm>
          <a:prstGeom prst="rect">
            <a:avLst/>
          </a:prstGeom>
          <a:solidFill>
            <a:srgbClr val="0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48132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⏱  Speed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84248"/>
            <a:ext cx="3337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</a:rPr>
              <a:t>Scan + fix delivered in &lt; 90 seconds
vs days of manual security review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54680"/>
            <a:ext cx="3337560" cy="3840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182112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&lt; 90s per scan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78807" y="1417320"/>
            <a:ext cx="3611880" cy="2331720"/>
          </a:xfrm>
          <a:prstGeom prst="rect">
            <a:avLst/>
          </a:prstGeom>
          <a:solidFill>
            <a:srgbClr val="F1F5F9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78807" y="1417320"/>
            <a:ext cx="3611880" cy="457200"/>
          </a:xfrm>
          <a:prstGeom prst="rect">
            <a:avLst/>
          </a:prstGeom>
          <a:solidFill>
            <a:srgbClr val="0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88536" y="148132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💰  Cost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5968" y="1984248"/>
            <a:ext cx="3337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</a:rPr>
              <a:t>No security tool licences needed
All data sources are free and open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5968" y="3154680"/>
            <a:ext cx="3337560" cy="3840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15968" y="3182112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£0 tooling cost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37575" y="1417320"/>
            <a:ext cx="3611880" cy="2331720"/>
          </a:xfrm>
          <a:prstGeom prst="rect">
            <a:avLst/>
          </a:prstGeom>
          <a:solidFill>
            <a:srgbClr val="F1F5F9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37575" y="1417320"/>
            <a:ext cx="3611880" cy="457200"/>
          </a:xfrm>
          <a:prstGeom prst="rect">
            <a:avLst/>
          </a:prstGeom>
          <a:solidFill>
            <a:srgbClr val="0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47303" y="148132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🛡  Risk Reduction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74736" y="1984248"/>
            <a:ext cx="3337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</a:rPr>
              <a:t>Known vulnerabilities fixed before
they can be exploited in production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74736" y="3154680"/>
            <a:ext cx="3337560" cy="3840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74736" y="3182112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 known CVEs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3931920"/>
            <a:ext cx="3611880" cy="2331720"/>
          </a:xfrm>
          <a:prstGeom prst="rect">
            <a:avLst/>
          </a:prstGeom>
          <a:solidFill>
            <a:srgbClr val="F1F5F9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3931920"/>
            <a:ext cx="3611880" cy="457200"/>
          </a:xfrm>
          <a:prstGeom prst="rect">
            <a:avLst/>
          </a:prstGeom>
          <a:solidFill>
            <a:srgbClr val="0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8" y="399592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📋  Compliance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498848"/>
            <a:ext cx="3337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</a:rPr>
              <a:t>Automatic SBOM for EU CRA / US EO 14028
Licence compliance enforced per policy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669279"/>
            <a:ext cx="3337560" cy="3840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5696712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Audit-ready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78807" y="3931920"/>
            <a:ext cx="3611880" cy="2331720"/>
          </a:xfrm>
          <a:prstGeom prst="rect">
            <a:avLst/>
          </a:prstGeom>
          <a:solidFill>
            <a:srgbClr val="F1F5F9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78807" y="3931920"/>
            <a:ext cx="3611880" cy="457200"/>
          </a:xfrm>
          <a:prstGeom prst="rect">
            <a:avLst/>
          </a:prstGeom>
          <a:solidFill>
            <a:srgbClr val="0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88536" y="399592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🔄  Continuity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15968" y="4498848"/>
            <a:ext cx="3337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</a:rPr>
              <a:t>Runs in CI/CD on every code push
Weekly scheduled scans catch new CVEs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15968" y="5669279"/>
            <a:ext cx="3337560" cy="3840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15968" y="5696712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Always current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37575" y="3931920"/>
            <a:ext cx="3611880" cy="2331720"/>
          </a:xfrm>
          <a:prstGeom prst="rect">
            <a:avLst/>
          </a:prstGeom>
          <a:solidFill>
            <a:srgbClr val="F1F5F9"/>
          </a:solidFill>
          <a:ln w="63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37575" y="3931920"/>
            <a:ext cx="3611880" cy="457200"/>
          </a:xfrm>
          <a:prstGeom prst="rect">
            <a:avLst/>
          </a:prstGeom>
          <a:solidFill>
            <a:srgbClr val="0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47303" y="399592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👥  Transparency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74736" y="4498848"/>
            <a:ext cx="3337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</a:rPr>
              <a:t>Clear HTML report for any audience
Health score tells the story at a glance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74736" y="5669279"/>
            <a:ext cx="3337560" cy="3840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74736" y="5696712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Board-ready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Works With Your 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4980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0D9488"/>
                </a:solidFill>
              </a:rPr>
              <a:t>Automatic language detection — no configuration needed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</a:rPr>
              <a:t>UC1 Supply Chain Security Pipeline  | 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41732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937"/>
                </a:solidFill>
              </a:rPr>
              <a:t>The pipeline detects your project language automatically and uses the correct approach for each: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011680"/>
            <a:ext cx="1920240" cy="32004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14884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☕  Java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9748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FFFFFF"/>
                </a:solidFill>
              </a:rPr>
              <a:t>Maven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54680"/>
            <a:ext cx="173736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24612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pom.xml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5661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Auto-detected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77440" y="2011680"/>
            <a:ext cx="1920240" cy="32004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68880" y="214884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🐍  Python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269748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FFFFFF"/>
                </a:solidFill>
              </a:rPr>
              <a:t>PyPI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68880" y="3154680"/>
            <a:ext cx="173736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68880" y="324612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requirements.txt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35661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Auto-detected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0" y="2011680"/>
            <a:ext cx="1920240" cy="32004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0" y="214884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🟢  Node.js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269748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FFFFFF"/>
                </a:solidFill>
              </a:rPr>
              <a:t>npm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0560" y="3154680"/>
            <a:ext cx="173736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60" y="324612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package.json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35661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Auto-detected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011680"/>
            <a:ext cx="1920240" cy="3200400"/>
          </a:xfrm>
          <a:prstGeom prst="rect">
            <a:avLst/>
          </a:prstGeom>
          <a:solidFill>
            <a:srgbClr val="0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214884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🔷  .NET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269748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FFFFFF"/>
                </a:solidFill>
              </a:rPr>
              <a:t>NuGet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92240" y="3154680"/>
            <a:ext cx="173736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324612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*.csproj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35661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Auto-detected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12480" y="2011680"/>
            <a:ext cx="1920240" cy="32004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03920" y="214884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💎  Ruby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0" y="269748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FFFFFF"/>
                </a:solidFill>
              </a:rPr>
              <a:t>RubyGems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503920" y="3154680"/>
            <a:ext cx="173736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03920" y="324612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Gemfile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20" y="35661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Auto-detected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424160" y="2011680"/>
            <a:ext cx="1920240" cy="32004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0" y="214884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🐹  Go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269748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FFFFFF"/>
                </a:solidFill>
              </a:rPr>
              <a:t>Go Proxy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515600" y="3154680"/>
            <a:ext cx="173736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0" y="324612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go.mod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35661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Auto-detected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537667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F2937"/>
                </a:solidFill>
              </a:rPr>
              <a:t>Each language uses the correct vulnerability database, package registry, and version resolver: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576072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1F2937"/>
                </a:solidFill>
              </a:rPr>
              <a:t>      •   Maven  →  OSV.dev (Maven ecosystem)  +  Maven Central version lookup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1F2937"/>
                </a:solidFill>
              </a:rPr>
              <a:t>      •   PyPI   →  OSV.dev (PyPI ecosystem)   +  pypi.org version lookup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1F2937"/>
                </a:solidFill>
              </a:rPr>
              <a:t>      •   npm    →  OSV.dev (npm ecosystem)    +  registry.npmjs.org version lookup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43600" y="5760720"/>
            <a:ext cx="5852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1F2937"/>
                </a:solidFill>
              </a:rPr>
              <a:t>      •   NuGet    →  OSV.dev (NuGet)      +  api.nuget.org version lookup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1F2937"/>
                </a:solidFill>
              </a:rPr>
              <a:t>      •   RubyGems →  OSV.dev (RubyGems)  +  rubygems.org version lookup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1F2937"/>
                </a:solidFill>
              </a:rPr>
              <a:t>      •   Go       →  OSV.dev (Go)        +  proxy.golang.org version lookup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Fits Into Your Existing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4980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0D9488"/>
                </a:solidFill>
              </a:rPr>
              <a:t>GitHub Actions is live in this repo — and Claude Code can drive the pipeline via MCP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</a:rPr>
              <a:t>UC1 Supply Chain Security Pipeline  | 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4173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2D5C"/>
                </a:solidFill>
              </a:rPr>
              <a:t>GitHub Actions (already live):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874519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6A34A"/>
                </a:solidFill>
              </a:rPr>
              <a:t>  ✔  Workflow at .github/workflows/security-scan.yml — active now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6A34A"/>
                </a:solidFill>
              </a:rPr>
              <a:t>  ✔  Triggers on push to main, manual run, and weekly Monday scan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6A34A"/>
                </a:solidFill>
              </a:rPr>
              <a:t>  ✔  Add DEMO_REPO_PAT secret to enable live PR creation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6A34A"/>
                </a:solidFill>
              </a:rPr>
              <a:t>  ✔  Also generates security-scan.yml for any other target repo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6A34A"/>
                </a:solidFill>
              </a:rPr>
              <a:t>  ✔  Works in Jenkins, GitLab CI, and Azure DevOps too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7548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9488"/>
                </a:solidFill>
              </a:rPr>
              <a:t>MCP Server (Claude Code):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16636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F2937"/>
                </a:solidFill>
              </a:rPr>
              <a:t>      •   scan_repo  —  run full pipeline from a conversation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F2937"/>
                </a:solidFill>
              </a:rPr>
              <a:t>      •   get_health_report  /  get_cve_summary  /  get_policy_status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F2937"/>
                </a:solidFill>
              </a:rPr>
              <a:t>      •   create_remediation_prs  —  create GitHub PRs via Claude</a:t>
            </a:r>
          </a:p>
          <a:p>
            <a:pPr>
              <a:spcAft>
                <a:spcPts val="400"/>
              </a:spcAft>
            </a:pPr>
            <a:r>
              <a:rPr sz="1100" i="1">
                <a:solidFill>
                  <a:srgbClr val="94A3B8"/>
                </a:solidFill>
              </a:rPr>
              <a:t>Pre-configured in .mcp.json — no setup needed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60720" y="1417320"/>
            <a:ext cx="6126480" cy="5212080"/>
          </a:xfrm>
          <a:prstGeom prst="rect">
            <a:avLst/>
          </a:prstGeom>
          <a:solidFill>
            <a:srgbClr val="F1F5F9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0" y="150876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2D5C"/>
                </a:solidFill>
              </a:rPr>
              <a:t>Trigger → Action → 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20" y="1920240"/>
            <a:ext cx="6126480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06440" y="2011680"/>
            <a:ext cx="603504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25312" y="20574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2D5C"/>
                </a:solidFill>
              </a:rPr>
              <a:t>Push to main branch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0574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Full scan runs automatically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25312" y="242316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D9488"/>
                </a:solidFill>
              </a:rPr>
              <a:t>HTML report artifact uploaded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82127" y="2121408"/>
            <a:ext cx="109728" cy="10972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806440" y="2926080"/>
            <a:ext cx="603504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25312" y="2971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2D5C"/>
                </a:solidFill>
              </a:rPr>
              <a:t>Manual workflow dispatch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29718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Scan + optional PR creation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25312" y="333756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D9488"/>
                </a:solidFill>
              </a:rPr>
              <a:t>PR merged or flagged for review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82127" y="3035808"/>
            <a:ext cx="109728" cy="10972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806440" y="3840480"/>
            <a:ext cx="603504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25312" y="38862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2D5C"/>
                </a:solidFill>
              </a:rPr>
              <a:t>Every Monday 02:00 UTC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1000" y="38862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Scheduled scan for new CVEs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25312" y="425196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D9488"/>
                </a:solidFill>
              </a:rPr>
              <a:t>Findings caught before exploitation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82127" y="3950208"/>
            <a:ext cx="109728" cy="10972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806440" y="4754880"/>
            <a:ext cx="603504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25312" y="48006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2D5C"/>
                </a:solidFill>
              </a:rPr>
              <a:t>Claude: scan_repo (MCP)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01000" y="48006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Full pipeline via conversation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25312" y="516636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D9488"/>
                </a:solidFill>
              </a:rPr>
              <a:t>Health report returned instantly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82127" y="4864608"/>
            <a:ext cx="109728" cy="10972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Getting Started — 3 Simple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4980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0D9488"/>
                </a:solidFill>
              </a:rPr>
              <a:t>From zero to full security scan in under 5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</a:rPr>
              <a:t>UC1 Supply Chain Security Pipeline  |  Confidential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17320"/>
            <a:ext cx="11430000" cy="1554480"/>
          </a:xfrm>
          <a:prstGeom prst="rect">
            <a:avLst/>
          </a:prstGeom>
          <a:solidFill>
            <a:srgbClr val="F1F5F9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417320"/>
            <a:ext cx="594360" cy="15544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874519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490472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F2D5C"/>
                </a:solidFill>
              </a:rPr>
              <a:t>Run the Pipeline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892808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</a:rPr>
              <a:t>Open a terminal and run one command pointing at any GitHub repository: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2286000"/>
            <a:ext cx="10424160" cy="347472"/>
          </a:xfrm>
          <a:prstGeom prst="rect">
            <a:avLst/>
          </a:prstGeom>
          <a:solidFill>
            <a:srgbClr val="0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2313432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D9488"/>
                </a:solidFill>
              </a:rPr>
              <a:t>python run_pipeline.py https://github.com/your-org/your-repo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660904"/>
            <a:ext cx="10424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6A34A"/>
                </a:solidFill>
              </a:rPr>
              <a:t>✔  No installation. No configuration. Works immediately.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154680"/>
            <a:ext cx="11430000" cy="1554480"/>
          </a:xfrm>
          <a:prstGeom prst="rect">
            <a:avLst/>
          </a:prstGeom>
          <a:solidFill>
            <a:srgbClr val="F1F5F9"/>
          </a:solidFill>
          <a:ln w="25400">
            <a:solidFill>
              <a:srgbClr val="0F2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3154680"/>
            <a:ext cx="594360" cy="1554480"/>
          </a:xfrm>
          <a:prstGeom prst="rect">
            <a:avLst/>
          </a:prstGeom>
          <a:solidFill>
            <a:srgbClr val="0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611880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227832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F2D5C"/>
                </a:solidFill>
              </a:rPr>
              <a:t>Review the Report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630168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</a:rPr>
              <a:t>Open the generated HTML report in any browser to see your security posture: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97280" y="4023360"/>
            <a:ext cx="10424160" cy="347472"/>
          </a:xfrm>
          <a:prstGeom prst="rect">
            <a:avLst/>
          </a:prstGeom>
          <a:solidFill>
            <a:srgbClr val="0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88720" y="4050791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D9488"/>
                </a:solidFill>
              </a:rPr>
              <a:t>dependency-health-report.html — generated in the same folder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4398264"/>
            <a:ext cx="10424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6A34A"/>
                </a:solidFill>
              </a:rPr>
              <a:t>✔  Health grade, CVE list, risk scores, and upgrade plan — all in one place.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892040"/>
            <a:ext cx="11430000" cy="1554480"/>
          </a:xfrm>
          <a:prstGeom prst="rect">
            <a:avLst/>
          </a:prstGeom>
          <a:solidFill>
            <a:srgbClr val="F1F5F9"/>
          </a:solidFill>
          <a:ln w="254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4892040"/>
            <a:ext cx="594360" cy="15544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5349240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4965192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F2D5C"/>
                </a:solidFill>
              </a:rPr>
              <a:t>Merge the Fix PR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5367527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</a:rPr>
              <a:t>If you provided a GitHub token, a fix PR was already created for you: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97280" y="5760720"/>
            <a:ext cx="10424160" cy="347472"/>
          </a:xfrm>
          <a:prstGeom prst="rect">
            <a:avLst/>
          </a:prstGeom>
          <a:solidFill>
            <a:srgbClr val="0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88720" y="5788152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D9488"/>
                </a:solidFill>
              </a:rPr>
              <a:t>PATCH and MINOR upgrades are auto-merged  |  MAJOR upgrades await your approval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6135624"/>
            <a:ext cx="10424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6A34A"/>
                </a:solidFill>
              </a:rPr>
              <a:t>✔  Your security posture improves from the moment you press merge.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4A3B8"/>
                </a:solidFill>
              </a:rPr>
              <a:t>Need help?  See SETUP.md for the full pre-flight checklist, or PIPELINE_GUIDE.md for stage-by-stage documentation.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2560320"/>
            <a:ext cx="11457432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</a:rPr>
              <a:t>Questions?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834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9488"/>
                </a:solidFill>
              </a:rPr>
              <a:t>Key Takeaways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429000"/>
            <a:ext cx="9418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✔  Vulnerabilities in third-party libraries are the #1 supply chain attack vector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886200"/>
            <a:ext cx="9418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✔  UC1 Pipeline finds, scores, and fixes them automatically in &lt; 90 seconds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343400"/>
            <a:ext cx="9418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✔  Works across Java, Python, Node.js, .NET, Ruby, and Go — zero configuration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800600"/>
            <a:ext cx="9418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✔  Delivers a board-ready health score, audit trail, and SBOM in every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257800"/>
            <a:ext cx="9418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✔  One command away from securing any GitHub repository today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355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</a:rPr>
              <a:t>Demo repo: github.com/SRGuptthha/uc1-security-demo  ·  Docs: SETUP.md  ·  Guide: PIPELINE_GUIDE.md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